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78" r:id="rId4"/>
    <p:sldId id="280" r:id="rId5"/>
    <p:sldId id="281" r:id="rId6"/>
    <p:sldId id="265" r:id="rId7"/>
    <p:sldId id="269" r:id="rId8"/>
    <p:sldId id="272" r:id="rId9"/>
    <p:sldId id="273" r:id="rId10"/>
    <p:sldId id="274" r:id="rId11"/>
    <p:sldId id="275" r:id="rId12"/>
    <p:sldId id="285" r:id="rId13"/>
    <p:sldId id="286" r:id="rId14"/>
    <p:sldId id="279" r:id="rId15"/>
    <p:sldId id="283" r:id="rId16"/>
    <p:sldId id="264" r:id="rId17"/>
    <p:sldId id="276" r:id="rId18"/>
    <p:sldId id="282" r:id="rId19"/>
    <p:sldId id="284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0F63"/>
    <a:srgbClr val="558B0D"/>
    <a:srgbClr val="1C7C45"/>
    <a:srgbClr val="3D8A0E"/>
    <a:srgbClr val="128986"/>
    <a:srgbClr val="A5275A"/>
    <a:srgbClr val="CB9E1F"/>
    <a:srgbClr val="1B7D6A"/>
    <a:srgbClr val="003D92"/>
    <a:srgbClr val="7016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048" autoAdjust="0"/>
  </p:normalViewPr>
  <p:slideViewPr>
    <p:cSldViewPr snapToGrid="0">
      <p:cViewPr varScale="1">
        <p:scale>
          <a:sx n="52" d="100"/>
          <a:sy n="52" d="100"/>
        </p:scale>
        <p:origin x="12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48E60-D9AA-4332-AF0B-9E4D9259FC2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439A5-3AAD-4554-BDA7-E41DCE04B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28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Universal Domain Graph (UDG): Distributed </a:t>
            </a:r>
            <a:r>
              <a:rPr lang="en-US" dirty="0" err="1"/>
              <a:t>metagraph</a:t>
            </a:r>
            <a:r>
              <a:rPr lang="en-US" dirty="0"/>
              <a:t> containing all relationship</a:t>
            </a:r>
          </a:p>
          <a:p>
            <a:r>
              <a:rPr lang="en-US" dirty="0"/>
              <a:t>information between all known Domains in the Spatial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439A5-3AAD-4554-BDA7-E41DCE04BE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60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HYPERSPACE: A set of ‘points’ such that, for every ordered pair of points, there is a possibly empty set of ‘paths’ from the first point to the second, and such that there is an ‘identity’ path from every point to itself. Syn: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439A5-3AAD-4554-BDA7-E41DCE04BE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94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ABDB2-E76A-0B47-05DB-1234D98EB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84418-6751-58AF-6B49-DAA6CF450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1ED3B-350D-4824-DBA7-0577C531C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38631-09E7-75C9-7D3F-6BE402462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CD7CD-FE86-29AB-CA38-6380E9A94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3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EE30C-5D28-8990-D6E7-1B13E5E50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ED47B-ED4A-2413-AA0E-A2C418520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3C1AD-3DEA-2B00-23B8-758122000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2A3D7-AB3D-05F6-4B72-6D518505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00B32-A65A-A417-AF08-618E2DDF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285A-FF4E-2139-6A2D-91CBB33B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61627-694E-A3AA-EAE9-0B341ADAE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B10A7-49E7-DD79-0353-E693569FF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D2C2-0BAD-9625-0931-6C2B7E7F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79F0C-8A0D-DDFE-9B0B-91B9C0EE3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66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5D6C4-31C1-2480-3CEA-2E6FAB73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95125-508A-28B8-F1BA-5409FF14B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DDF92-7ADF-6480-6BF5-831C597AD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9C75A-3A65-DB6C-99B9-987D0457D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BC63E-8C4D-D588-DB9D-B22C561D5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C3643-2A53-D9AE-9F56-972F486B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33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C7A66-ABC3-2D65-1E90-934D0655D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64A01-8315-A7C6-EF60-90CD72EA0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97238-F35C-F59C-FC1E-CDD5ED98C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2B8867-038B-C408-DCAC-5699CDBB0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3854E9-5F68-7969-5A44-C24495632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00606E-2F99-5AFF-DA21-6CA2B828A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CD58A-F324-F659-59FE-555CD17E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487D85-D1C3-F913-9C60-C93F8CBFE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56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15C1-2855-6A1E-1808-CAA7C1AA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B10CC9-E010-1896-B72A-1DF8228A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F6FF4-F53C-BABE-974C-BA403EB4C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9DE35-B061-30D0-E705-0C0C24C7E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2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7CAA71-28E7-59C7-8A3A-CDD00E02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9DC00A-6F03-E353-92C4-ED8A1108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7A420-F2A7-8492-8EC9-54E631520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94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5D5C-B0C7-7FBB-4243-64103174B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E5953-6A1F-AD83-E1D3-7EC61C8BC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15F17-83D9-8AB4-CEDB-5945503AC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79437-3A0A-7F22-EB0C-1E88D4361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BABC5-5217-60E0-DDE7-34D1F6AC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D6BBD-CEA6-A01D-7FB1-66E74CB4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52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2A446-3BF1-1531-F55B-83F8B00A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C49F87-3DF0-9E5A-5BFD-D65860819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658BB-CE34-FF50-3A50-BE983E8A6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7A821-3FD0-6AC8-7F2B-D4EC386F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2F619-8CA2-ADC4-2D6B-2657CC97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D7186-3219-1518-C5A3-1622CA89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81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1137-842F-5331-F5E1-872EBE52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B7AAC-B725-48F9-AB02-01CBEAB73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8F5FB-F039-CA0D-93A3-4D39A6BE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3C3CB-09E5-6663-7C67-FFF3D75F1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590DA-D533-BCA4-2FFB-525AC0B3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5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5CB05-26D4-34FC-8E86-3E1D7E749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F5CD2-F7BE-3FA7-0E91-BFF215C2F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2E5EA-2B06-5D54-509C-2F734D1CE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46D-F4C8-4179-84CA-43FF6823A6ED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CA1AF-6B93-A550-B8CA-CC671031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E1239-4D24-92AF-3C43-19D0FCAA4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2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A5B6C6-F68C-C95D-5761-713CDFD0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60951-F62A-955E-B638-A0926AF0C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F50F4-A9AA-8028-5292-DA9525C5D3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8546D-F4C8-4179-84CA-43FF6823A6ED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B68CD-E0D7-4C70-8978-005275AEC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2DB50-8CA1-63DB-A261-48EBEE0C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1AC3A-5152-4D29-983E-37EDB020B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36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panda.com/guides/kafka-cloud-kafka-authentication" TargetMode="External"/><Relationship Id="rId2" Type="http://schemas.openxmlformats.org/officeDocument/2006/relationships/hyperlink" Target="https://medium.com/@bhattchitrangna/securing-your-kafka-a-beginners-guide-to-kafka-security-ab2978a4d82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docs.confluent.io/platform/current/security/authorization/acls/overview.html" TargetMode="External"/><Relationship Id="rId4" Type="http://schemas.openxmlformats.org/officeDocument/2006/relationships/hyperlink" Target="https://developer.confluent.io/courses/security/authorization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w3.org/TR/did-cor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ASA: There may be more water on surface of Moon than previously thought -  Cheyenne, WY Cap City News">
            <a:extLst>
              <a:ext uri="{FF2B5EF4-FFF2-40B4-BE49-F238E27FC236}">
                <a16:creationId xmlns:a16="http://schemas.microsoft.com/office/drawing/2014/main" id="{A7EAF17E-D311-44B0-2A2F-8F6C910A6F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0" r="13728" b="1779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4F746A-6AB4-7796-B064-C46CBEC15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860271"/>
            <a:ext cx="9144000" cy="210024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a typeface="Segoe UI Black" panose="020B0A02040204020203" pitchFamily="34" charset="0"/>
              </a:rPr>
              <a:t>The Spatial Web</a:t>
            </a:r>
            <a:br>
              <a:rPr lang="en-US" b="1" dirty="0">
                <a:solidFill>
                  <a:schemeClr val="bg1"/>
                </a:solidFill>
                <a:ea typeface="Segoe UI Black" panose="020B0A02040204020203" pitchFamily="34" charset="0"/>
              </a:rPr>
            </a:br>
            <a:endParaRPr lang="en-US" b="1" dirty="0">
              <a:solidFill>
                <a:schemeClr val="bg1"/>
              </a:solidFill>
              <a:ea typeface="Segoe UI Black" panose="020B0A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71E81-BFC0-A108-3EE4-218302554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559627"/>
            <a:ext cx="9144000" cy="1974641"/>
          </a:xfrm>
        </p:spPr>
        <p:txBody>
          <a:bodyPr/>
          <a:lstStyle/>
          <a:p>
            <a:endParaRPr lang="en-US" dirty="0"/>
          </a:p>
          <a:p>
            <a:r>
              <a:rPr lang="en-US" b="1" dirty="0">
                <a:solidFill>
                  <a:schemeClr val="bg1"/>
                </a:solidFill>
              </a:rPr>
              <a:t>HSML schema and how to apply it to Kafka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1EE69D-ADE8-DB20-2F8E-845D66328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371" y="580668"/>
            <a:ext cx="1992086" cy="8964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3CDEDD-0AD5-3176-AD1F-20D9280387F5}"/>
              </a:ext>
            </a:extLst>
          </p:cNvPr>
          <p:cNvSpPr txBox="1"/>
          <p:nvPr/>
        </p:nvSpPr>
        <p:spPr>
          <a:xfrm>
            <a:off x="9798776" y="6121902"/>
            <a:ext cx="1894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11/22/2024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D1C56A-3080-B57A-21FB-A32E38D4BC16}"/>
              </a:ext>
            </a:extLst>
          </p:cNvPr>
          <p:cNvSpPr txBox="1"/>
          <p:nvPr/>
        </p:nvSpPr>
        <p:spPr>
          <a:xfrm>
            <a:off x="499110" y="61219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Alicia Sanjurjo Barrio (349B – Affiliate)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8B900A-4C1E-FCCE-7941-61658211088A}"/>
              </a:ext>
            </a:extLst>
          </p:cNvPr>
          <p:cNvSpPr/>
          <p:nvPr/>
        </p:nvSpPr>
        <p:spPr>
          <a:xfrm>
            <a:off x="1170214" y="1532722"/>
            <a:ext cx="9851571" cy="379255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117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F5D508-B096-2E02-3631-DB1F43FF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2</a:t>
            </a:fld>
            <a:endParaRPr 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A54181-49C3-6E16-BF9A-D20138255864}"/>
              </a:ext>
            </a:extLst>
          </p:cNvPr>
          <p:cNvSpPr txBox="1"/>
          <p:nvPr/>
        </p:nvSpPr>
        <p:spPr>
          <a:xfrm>
            <a:off x="914400" y="6156078"/>
            <a:ext cx="10812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From 979-8-3503-5597-0/25/$31.00 ©2025 IEEE, </a:t>
            </a:r>
          </a:p>
          <a:p>
            <a:r>
              <a:rPr lang="en-US" sz="1200" dirty="0"/>
              <a:t>Enabling Interoperable Digital Twins for Collaborative Lunar Exploration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638568-B69E-9C90-851E-6F01EFECC879}"/>
              </a:ext>
            </a:extLst>
          </p:cNvPr>
          <p:cNvSpPr txBox="1"/>
          <p:nvPr/>
        </p:nvSpPr>
        <p:spPr>
          <a:xfrm>
            <a:off x="852011" y="1720840"/>
            <a:ext cx="524398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Spatial Web specification applies an architectural design approach to the Spatial Web System. </a:t>
            </a:r>
          </a:p>
          <a:p>
            <a:endParaRPr lang="en-US" sz="2000" dirty="0"/>
          </a:p>
          <a:p>
            <a:r>
              <a:rPr lang="en-US" sz="2000" dirty="0"/>
              <a:t>The architecture components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Hyperspatial Modeling Language (HSML),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Hyperspatial Transaction Protocol (HSTP),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Universal Domain Graph (UDG),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Spatial Web Governance,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Domain-specific Architectures, 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Autonomous Intelligent Systems (AIS) Rating System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3D77F68-38DD-E2B2-9F32-3C99969B2D3A}"/>
              </a:ext>
            </a:extLst>
          </p:cNvPr>
          <p:cNvSpPr txBox="1">
            <a:spLocks/>
          </p:cNvSpPr>
          <p:nvPr/>
        </p:nvSpPr>
        <p:spPr>
          <a:xfrm>
            <a:off x="914400" y="608434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Spatial Web Architecture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A8D6DB1-FB52-5918-2C2E-D7926CFB851C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2549CE8-A0F9-C792-4054-34C796440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54232"/>
            <a:ext cx="6076083" cy="439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59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Spatial Web Protocols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3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D25C0BC5-18E4-08DF-F47E-95C057223B76}"/>
              </a:ext>
            </a:extLst>
          </p:cNvPr>
          <p:cNvSpPr txBox="1">
            <a:spLocks/>
          </p:cNvSpPr>
          <p:nvPr/>
        </p:nvSpPr>
        <p:spPr>
          <a:xfrm>
            <a:off x="1524000" y="2040257"/>
            <a:ext cx="9829800" cy="36233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HSML ≡ Hyperspace Modeling Language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A multi-dimensional ontology for encoding fundamental elements and the relationships between them. </a:t>
            </a:r>
          </a:p>
          <a:p>
            <a:pPr marL="0" indent="0">
              <a:buNone/>
            </a:pPr>
            <a:r>
              <a:rPr lang="en-US" b="1" dirty="0"/>
              <a:t>HSTP ≡ Hyperspace Transaction Protocol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A multi-dimensional range query for governing the interactions between actors and assets</a:t>
            </a:r>
          </a:p>
          <a:p>
            <a:pPr marL="0" indent="0">
              <a:buNone/>
            </a:pPr>
            <a:r>
              <a:rPr lang="en-US" b="1" dirty="0"/>
              <a:t>HSQL ≡ Hyperspace Query Language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Syntax for performing predictive (probabilistic) queries on a vector graph document database which combines comparative, relational, and similarity searching</a:t>
            </a:r>
          </a:p>
        </p:txBody>
      </p:sp>
      <p:pic>
        <p:nvPicPr>
          <p:cNvPr id="11" name="Graphic 10" descr="Puzzle with solid fill">
            <a:extLst>
              <a:ext uri="{FF2B5EF4-FFF2-40B4-BE49-F238E27FC236}">
                <a16:creationId xmlns:a16="http://schemas.microsoft.com/office/drawing/2014/main" id="{207D0029-1E84-D949-67BC-EAFD30A0C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640" y="1979658"/>
            <a:ext cx="594360" cy="594360"/>
          </a:xfrm>
          <a:prstGeom prst="rect">
            <a:avLst/>
          </a:prstGeom>
        </p:spPr>
      </p:pic>
      <p:pic>
        <p:nvPicPr>
          <p:cNvPr id="12" name="Graphic 11" descr="Periodic Graph with solid fill">
            <a:extLst>
              <a:ext uri="{FF2B5EF4-FFF2-40B4-BE49-F238E27FC236}">
                <a16:creationId xmlns:a16="http://schemas.microsoft.com/office/drawing/2014/main" id="{4887BB8A-F994-CF66-7512-AB3FD26E93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3646" y="4131393"/>
            <a:ext cx="686349" cy="686349"/>
          </a:xfrm>
          <a:prstGeom prst="rect">
            <a:avLst/>
          </a:prstGeom>
        </p:spPr>
      </p:pic>
      <p:pic>
        <p:nvPicPr>
          <p:cNvPr id="13" name="Graphic 12" descr="Swipe Gesture with solid fill">
            <a:extLst>
              <a:ext uri="{FF2B5EF4-FFF2-40B4-BE49-F238E27FC236}">
                <a16:creationId xmlns:a16="http://schemas.microsoft.com/office/drawing/2014/main" id="{FF85D7DE-F334-4A34-0905-DA943CE16D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3085825"/>
            <a:ext cx="686349" cy="68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452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B33C-FCDD-55C6-A68A-FB830E17B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2506"/>
            <a:ext cx="9144000" cy="1207180"/>
          </a:xfrm>
        </p:spPr>
        <p:txBody>
          <a:bodyPr/>
          <a:lstStyle/>
          <a:p>
            <a:pPr algn="l"/>
            <a:r>
              <a:rPr lang="en-US" b="1" dirty="0"/>
              <a:t>HSTP in Simple Words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B3E4A-F98A-C663-E711-D2A346442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30059"/>
            <a:ext cx="9829800" cy="2827792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System designed to enable smooth, decentralized, secure, and private communication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Focuses on transactions (exchanges of information or actions)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</a:t>
            </a:r>
            <a:r>
              <a:rPr lang="en-US" b="1" dirty="0"/>
              <a:t> HSTP Objects </a:t>
            </a:r>
            <a:r>
              <a:rPr lang="en-US" dirty="0"/>
              <a:t>are "units of activity". Each object represents an action or event (called an </a:t>
            </a:r>
            <a:r>
              <a:rPr lang="en-US" b="1" dirty="0"/>
              <a:t>HSML Activity</a:t>
            </a:r>
            <a:r>
              <a:rPr lang="en-US" dirty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Allows different </a:t>
            </a:r>
            <a:r>
              <a:rPr lang="en-US" b="1" dirty="0"/>
              <a:t>Spatial Web nodes</a:t>
            </a:r>
            <a:r>
              <a:rPr lang="en-US" dirty="0"/>
              <a:t> to exchange messages and stay coordinated.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73A88B-1BCD-9E12-85BD-0E3B4CF4CFD1}"/>
              </a:ext>
            </a:extLst>
          </p:cNvPr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96A4A8"/>
          </a:solidFill>
          <a:ln w="57150">
            <a:solidFill>
              <a:srgbClr val="96A4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9290C05-D8FB-4FE0-B79E-1DBF19B405AD}"/>
              </a:ext>
            </a:extLst>
          </p:cNvPr>
          <p:cNvSpPr txBox="1">
            <a:spLocks/>
          </p:cNvSpPr>
          <p:nvPr/>
        </p:nvSpPr>
        <p:spPr>
          <a:xfrm>
            <a:off x="1524000" y="2203449"/>
            <a:ext cx="9829800" cy="763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HSTP ≡ Hyperspace Transaction Protocol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C7375FF-5F0B-92E5-C1DB-A4EBA8016C60}"/>
              </a:ext>
            </a:extLst>
          </p:cNvPr>
          <p:cNvCxnSpPr/>
          <p:nvPr/>
        </p:nvCxnSpPr>
        <p:spPr>
          <a:xfrm>
            <a:off x="1621971" y="1839686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E6901995-57E9-83B0-9281-347B5FA44746}"/>
              </a:ext>
            </a:extLst>
          </p:cNvPr>
          <p:cNvSpPr txBox="1">
            <a:spLocks/>
          </p:cNvSpPr>
          <p:nvPr/>
        </p:nvSpPr>
        <p:spPr>
          <a:xfrm>
            <a:off x="1621971" y="5700464"/>
            <a:ext cx="9829800" cy="763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6900" lvl="1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</a:pPr>
            <a:r>
              <a:rPr lang="en-US" sz="2400" i="1" dirty="0">
                <a:solidFill>
                  <a:schemeClr val="dk1"/>
                </a:solidFill>
                <a:ea typeface="Poppins"/>
                <a:cs typeface="Poppins"/>
                <a:sym typeface="Poppins"/>
              </a:rPr>
              <a:t>HSTP does for the Spatial Web as HTTP does for the WWW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0A7E6E4-AE0D-8D8C-A4C9-D7272DFF7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70F4D2-CD9E-4211-B0A3-6D53D5D6A630}" type="slidenum">
              <a:rPr lang="en-US" sz="2000" smtClean="0"/>
              <a:t>4</a:t>
            </a:fld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76945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HSTP &amp; HSML for Kafka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5</a:t>
            </a:fld>
            <a:endParaRPr lang="en-US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FA687A0-F2A1-C81E-5125-62BE1007152A}"/>
              </a:ext>
            </a:extLst>
          </p:cNvPr>
          <p:cNvSpPr txBox="1"/>
          <p:nvPr/>
        </p:nvSpPr>
        <p:spPr>
          <a:xfrm>
            <a:off x="838200" y="1860893"/>
            <a:ext cx="10515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Kafka Integration</a:t>
            </a:r>
            <a:r>
              <a:rPr lang="en-US" sz="2400" dirty="0"/>
              <a:t>: Create </a:t>
            </a:r>
            <a:r>
              <a:rPr lang="en-US" sz="2400" b="1" dirty="0"/>
              <a:t>protocols for authentication and authorization</a:t>
            </a:r>
            <a:r>
              <a:rPr lang="en-US" sz="2400" dirty="0"/>
              <a:t> aligned with HSTP principles.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Authentication </a:t>
            </a:r>
            <a:r>
              <a:rPr lang="en-US" sz="2400" dirty="0"/>
              <a:t>of users required to access the </a:t>
            </a:r>
            <a:r>
              <a:rPr lang="en-US" sz="2400" b="1" dirty="0"/>
              <a:t>server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i="0" dirty="0">
                <a:solidFill>
                  <a:srgbClr val="242424"/>
                </a:solidFill>
                <a:effectLst/>
                <a:latin typeface="source-serif-pro"/>
              </a:rPr>
              <a:t>Can use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 SSL/TLS or SASL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Authorization</a:t>
            </a:r>
            <a:r>
              <a:rPr lang="en-US" sz="2400" dirty="0"/>
              <a:t> needed to participate in different </a:t>
            </a:r>
            <a:r>
              <a:rPr lang="en-US" sz="2400" b="1" dirty="0"/>
              <a:t>channels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Kafka Topics with restricted access using </a:t>
            </a:r>
            <a:r>
              <a:rPr lang="en-US" sz="2400" b="1" dirty="0"/>
              <a:t>ACLs.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Message Content</a:t>
            </a:r>
            <a:r>
              <a:rPr lang="en-US" sz="2400" dirty="0"/>
              <a:t>: Kafka messages would carry </a:t>
            </a:r>
            <a:r>
              <a:rPr lang="en-US" sz="2400" b="1" dirty="0"/>
              <a:t>data structured in HSML</a:t>
            </a:r>
            <a:endParaRPr lang="fr-FR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948B4-7152-BA43-4044-B73D3C4D860E}"/>
              </a:ext>
            </a:extLst>
          </p:cNvPr>
          <p:cNvSpPr txBox="1"/>
          <p:nvPr/>
        </p:nvSpPr>
        <p:spPr>
          <a:xfrm>
            <a:off x="838200" y="4785730"/>
            <a:ext cx="10515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Possible resources to consider: </a:t>
            </a: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hlinkClick r:id="rId2"/>
              </a:rPr>
              <a:t>https://medium.com/@bhattchitrangna/securing-your-kafka-a-beginners-guide-to-kafka-security-ab2978a4d82e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/>
              </a:rPr>
              <a:t>https://www.redpanda.com/guides/kafka-cloud-kafka-authentication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hlinkClick r:id="rId4"/>
              </a:rPr>
              <a:t>https://developer.confluent.io/courses/security/authorization/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hlinkClick r:id="rId5"/>
              </a:rPr>
              <a:t>https://docs.confluent.io/platform/current/security/authorization/acls/overview.html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B69634-9559-2C66-22E6-66C2652054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0112" y="320040"/>
            <a:ext cx="2313688" cy="105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619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B33C-FCDD-55C6-A68A-FB830E17B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2506"/>
            <a:ext cx="9144000" cy="1207180"/>
          </a:xfrm>
        </p:spPr>
        <p:txBody>
          <a:bodyPr/>
          <a:lstStyle/>
          <a:p>
            <a:pPr algn="l"/>
            <a:r>
              <a:rPr lang="en-US" b="1" dirty="0"/>
              <a:t>HSML in Simple Words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B3E4A-F98A-C663-E711-D2A346442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91543"/>
            <a:ext cx="9829800" cy="1655762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modeling language that can be read by both humas and machines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detailed schema/map that explains how all the different data is related to each other in the system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 describes objects, relations, actions, activities and their permissions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73A88B-1BCD-9E12-85BD-0E3B4CF4CFD1}"/>
              </a:ext>
            </a:extLst>
          </p:cNvPr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96A4A8"/>
          </a:solidFill>
          <a:ln w="57150">
            <a:solidFill>
              <a:srgbClr val="96A4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9290C05-D8FB-4FE0-B79E-1DBF19B405AD}"/>
              </a:ext>
            </a:extLst>
          </p:cNvPr>
          <p:cNvSpPr txBox="1">
            <a:spLocks/>
          </p:cNvSpPr>
          <p:nvPr/>
        </p:nvSpPr>
        <p:spPr>
          <a:xfrm>
            <a:off x="1524000" y="2328409"/>
            <a:ext cx="9829800" cy="763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HSML ≡ Hyperspace Modeling Language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C7375FF-5F0B-92E5-C1DB-A4EBA8016C60}"/>
              </a:ext>
            </a:extLst>
          </p:cNvPr>
          <p:cNvCxnSpPr/>
          <p:nvPr/>
        </p:nvCxnSpPr>
        <p:spPr>
          <a:xfrm>
            <a:off x="1621971" y="1839686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E6901995-57E9-83B0-9281-347B5FA44746}"/>
              </a:ext>
            </a:extLst>
          </p:cNvPr>
          <p:cNvSpPr txBox="1">
            <a:spLocks/>
          </p:cNvSpPr>
          <p:nvPr/>
        </p:nvSpPr>
        <p:spPr>
          <a:xfrm>
            <a:off x="1621971" y="5128872"/>
            <a:ext cx="9829800" cy="763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6900" lvl="1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</a:pPr>
            <a:r>
              <a:rPr lang="en-US" sz="2400" i="1" dirty="0">
                <a:solidFill>
                  <a:schemeClr val="dk1"/>
                </a:solidFill>
                <a:ea typeface="Poppins"/>
                <a:cs typeface="Poppins"/>
                <a:sym typeface="Poppins"/>
              </a:rPr>
              <a:t>HSML does for the Spatial Web as HTML does for the WWW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0A7E6E4-AE0D-8D8C-A4C9-D7272DFF7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70F4D2-CD9E-4211-B0A3-6D53D5D6A630}" type="slidenum">
              <a:rPr lang="en-US" sz="2000" smtClean="0"/>
              <a:t>6</a:t>
            </a:fld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69335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Spatial Web Ontology Entries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2D65A-19B3-BC2D-6B2C-CBD795621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412384"/>
            <a:ext cx="10515600" cy="2357059"/>
          </a:xfrm>
        </p:spPr>
        <p:txBody>
          <a:bodyPr numCol="2">
            <a:normAutofit/>
          </a:bodyPr>
          <a:lstStyle/>
          <a:p>
            <a:r>
              <a:rPr lang="en-US" b="1" dirty="0"/>
              <a:t>ACTIVITY</a:t>
            </a:r>
            <a:endParaRPr lang="en-US" dirty="0"/>
          </a:p>
          <a:p>
            <a:r>
              <a:rPr lang="en-US" b="1" dirty="0"/>
              <a:t>AGENT</a:t>
            </a:r>
            <a:endParaRPr lang="en-US" dirty="0"/>
          </a:p>
          <a:p>
            <a:r>
              <a:rPr lang="en-US" b="1" dirty="0"/>
              <a:t>CONTRACT</a:t>
            </a:r>
            <a:endParaRPr lang="en-US" dirty="0"/>
          </a:p>
          <a:p>
            <a:r>
              <a:rPr lang="en-US" b="1" dirty="0"/>
              <a:t>CHANNEL</a:t>
            </a:r>
            <a:endParaRPr lang="en-US" dirty="0"/>
          </a:p>
          <a:p>
            <a:r>
              <a:rPr lang="en-US" b="1" dirty="0"/>
              <a:t>CREDENTIAL</a:t>
            </a:r>
          </a:p>
          <a:p>
            <a:r>
              <a:rPr lang="en-US" b="1" dirty="0"/>
              <a:t>DOMAIN</a:t>
            </a:r>
          </a:p>
          <a:p>
            <a:r>
              <a:rPr lang="en-US" b="1" dirty="0"/>
              <a:t>HYPERSPACE/SPACE</a:t>
            </a:r>
          </a:p>
          <a:p>
            <a:r>
              <a:rPr lang="en-US" b="1" dirty="0"/>
              <a:t>TIME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7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8D1ECC9-3ECA-B9E8-308C-A5B8BD61B9CA}"/>
              </a:ext>
            </a:extLst>
          </p:cNvPr>
          <p:cNvSpPr txBox="1"/>
          <p:nvPr/>
        </p:nvSpPr>
        <p:spPr>
          <a:xfrm>
            <a:off x="914400" y="1665348"/>
            <a:ext cx="10439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ENTITIES </a:t>
            </a:r>
            <a:r>
              <a:rPr lang="en-US" sz="2400" dirty="0"/>
              <a:t> are the base items used across the Spatial Web in HSML</a:t>
            </a:r>
          </a:p>
          <a:p>
            <a:endParaRPr lang="en-US" sz="2400" dirty="0"/>
          </a:p>
          <a:p>
            <a:r>
              <a:rPr lang="en-US" sz="2400" dirty="0"/>
              <a:t>The Spatial Web ontology defines several classes. All classes are types of the Entity base class: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A687A0-F2A1-C81E-5125-62BE1007152A}"/>
              </a:ext>
            </a:extLst>
          </p:cNvPr>
          <p:cNvSpPr txBox="1"/>
          <p:nvPr/>
        </p:nvSpPr>
        <p:spPr>
          <a:xfrm>
            <a:off x="914400" y="5715986"/>
            <a:ext cx="86639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HSML encodes ENTITIES in a format, e.g., JSON</a:t>
            </a:r>
          </a:p>
        </p:txBody>
      </p:sp>
    </p:spTree>
    <p:extLst>
      <p:ext uri="{BB962C8B-B14F-4D97-AF65-F5344CB8AC3E}">
        <p14:creationId xmlns:p14="http://schemas.microsoft.com/office/powerpoint/2010/main" val="2146347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F5D508-B096-2E02-3631-DB1F43FF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8</a:t>
            </a:fld>
            <a:endParaRPr 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A54181-49C3-6E16-BF9A-D20138255864}"/>
              </a:ext>
            </a:extLst>
          </p:cNvPr>
          <p:cNvSpPr txBox="1"/>
          <p:nvPr/>
        </p:nvSpPr>
        <p:spPr>
          <a:xfrm>
            <a:off x="560070" y="692764"/>
            <a:ext cx="18973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 P2874/D3.1, June 2024 Draft Standard for Spatial Web Protocol, Architecture and Governance: 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8804BE27-31AE-3C03-449F-09D00A23C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464" y="136525"/>
            <a:ext cx="7277736" cy="662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65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3BA4DD1E-0FC0-50BB-0021-7C3D1C186662}"/>
              </a:ext>
            </a:extLst>
          </p:cNvPr>
          <p:cNvSpPr/>
          <p:nvPr/>
        </p:nvSpPr>
        <p:spPr>
          <a:xfrm>
            <a:off x="142296" y="2604006"/>
            <a:ext cx="1310634" cy="923331"/>
          </a:xfrm>
          <a:prstGeom prst="rect">
            <a:avLst/>
          </a:prstGeom>
          <a:solidFill>
            <a:srgbClr val="701682">
              <a:alpha val="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E33AD8B3-4A92-290C-C61D-6C50B6B13230}"/>
              </a:ext>
            </a:extLst>
          </p:cNvPr>
          <p:cNvCxnSpPr>
            <a:cxnSpLocks/>
            <a:endCxn id="9" idx="3"/>
          </p:cNvCxnSpPr>
          <p:nvPr/>
        </p:nvCxnSpPr>
        <p:spPr>
          <a:xfrm rot="5400000">
            <a:off x="8844250" y="4099122"/>
            <a:ext cx="1569755" cy="1154411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24E5AEED-7A5A-7B39-2C18-919410348662}"/>
              </a:ext>
            </a:extLst>
          </p:cNvPr>
          <p:cNvCxnSpPr>
            <a:cxnSpLocks/>
            <a:endCxn id="11" idx="1"/>
          </p:cNvCxnSpPr>
          <p:nvPr/>
        </p:nvCxnSpPr>
        <p:spPr>
          <a:xfrm rot="16200000" flipH="1">
            <a:off x="1787572" y="4181569"/>
            <a:ext cx="1569808" cy="1080984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46D2DD8-6812-4069-D7EB-76D52D7DD1E6}"/>
              </a:ext>
            </a:extLst>
          </p:cNvPr>
          <p:cNvSpPr/>
          <p:nvPr/>
        </p:nvSpPr>
        <p:spPr>
          <a:xfrm>
            <a:off x="10593527" y="2746535"/>
            <a:ext cx="1518285" cy="841133"/>
          </a:xfrm>
          <a:prstGeom prst="rect">
            <a:avLst/>
          </a:prstGeom>
          <a:solidFill>
            <a:srgbClr val="1B7D6A">
              <a:alpha val="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7B7CD5C-6C7F-EAB8-F90F-887663BF9D88}"/>
              </a:ext>
            </a:extLst>
          </p:cNvPr>
          <p:cNvSpPr/>
          <p:nvPr/>
        </p:nvSpPr>
        <p:spPr>
          <a:xfrm>
            <a:off x="3504712" y="82422"/>
            <a:ext cx="5189921" cy="446600"/>
          </a:xfrm>
          <a:prstGeom prst="rect">
            <a:avLst/>
          </a:prstGeom>
          <a:solidFill>
            <a:srgbClr val="003D92">
              <a:alpha val="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F5D508-B096-2E02-3631-DB1F43FF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2070"/>
            <a:ext cx="2743200" cy="365125"/>
          </a:xfrm>
        </p:spPr>
        <p:txBody>
          <a:bodyPr/>
          <a:lstStyle/>
          <a:p>
            <a:fld id="{AF70F4D2-CD9E-4211-B0A3-6D53D5D6A630}" type="slidenum">
              <a:rPr lang="en-US" sz="2000" smtClean="0"/>
              <a:t>9</a:t>
            </a:fld>
            <a:endParaRPr lang="en-US" sz="20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19933AD-E1ED-7AC0-2FD9-56EC18DF2AFA}"/>
              </a:ext>
            </a:extLst>
          </p:cNvPr>
          <p:cNvSpPr/>
          <p:nvPr/>
        </p:nvSpPr>
        <p:spPr>
          <a:xfrm>
            <a:off x="9417752" y="3225160"/>
            <a:ext cx="1817370" cy="754380"/>
          </a:xfrm>
          <a:prstGeom prst="roundRect">
            <a:avLst/>
          </a:prstGeom>
          <a:solidFill>
            <a:srgbClr val="1C7C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ACTIVITY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DF1796A-6DEF-F672-A366-C800D081EB0F}"/>
              </a:ext>
            </a:extLst>
          </p:cNvPr>
          <p:cNvSpPr/>
          <p:nvPr/>
        </p:nvSpPr>
        <p:spPr>
          <a:xfrm>
            <a:off x="5190988" y="2671052"/>
            <a:ext cx="1817370" cy="75438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CHANNEL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E3C360-A392-4D39-DB7C-B3B808D894B3}"/>
              </a:ext>
            </a:extLst>
          </p:cNvPr>
          <p:cNvSpPr/>
          <p:nvPr/>
        </p:nvSpPr>
        <p:spPr>
          <a:xfrm>
            <a:off x="5190988" y="401523"/>
            <a:ext cx="1817370" cy="754380"/>
          </a:xfrm>
          <a:prstGeom prst="roundRect">
            <a:avLst/>
          </a:prstGeom>
          <a:solidFill>
            <a:srgbClr val="003D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AGENT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E6869A-3F49-5A26-9D62-F421437DCBEA}"/>
              </a:ext>
            </a:extLst>
          </p:cNvPr>
          <p:cNvSpPr/>
          <p:nvPr/>
        </p:nvSpPr>
        <p:spPr>
          <a:xfrm>
            <a:off x="947199" y="3219923"/>
            <a:ext cx="1817370" cy="754380"/>
          </a:xfrm>
          <a:prstGeom prst="roundRect">
            <a:avLst/>
          </a:prstGeom>
          <a:solidFill>
            <a:srgbClr val="7016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DOMAIN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507B93-0020-FBF3-E829-E4BE442C689D}"/>
              </a:ext>
            </a:extLst>
          </p:cNvPr>
          <p:cNvSpPr/>
          <p:nvPr/>
        </p:nvSpPr>
        <p:spPr>
          <a:xfrm>
            <a:off x="9427430" y="5605372"/>
            <a:ext cx="1817370" cy="754380"/>
          </a:xfrm>
          <a:prstGeom prst="roundRect">
            <a:avLst/>
          </a:prstGeom>
          <a:solidFill>
            <a:srgbClr val="558B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TIME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52EFE07-066F-B494-D450-816DD27C02D9}"/>
              </a:ext>
            </a:extLst>
          </p:cNvPr>
          <p:cNvSpPr/>
          <p:nvPr/>
        </p:nvSpPr>
        <p:spPr>
          <a:xfrm>
            <a:off x="7234551" y="5084015"/>
            <a:ext cx="1817370" cy="754380"/>
          </a:xfrm>
          <a:prstGeom prst="roundRect">
            <a:avLst/>
          </a:prstGeom>
          <a:solidFill>
            <a:srgbClr val="128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CONTRACT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075BE8-7688-3B35-095C-FF621E68D61B}"/>
              </a:ext>
            </a:extLst>
          </p:cNvPr>
          <p:cNvSpPr/>
          <p:nvPr/>
        </p:nvSpPr>
        <p:spPr>
          <a:xfrm>
            <a:off x="941242" y="5609901"/>
            <a:ext cx="1817370" cy="754380"/>
          </a:xfrm>
          <a:prstGeom prst="roundRect">
            <a:avLst/>
          </a:prstGeom>
          <a:solidFill>
            <a:srgbClr val="890F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HYPERSPACE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FBD421-659F-DA91-7B41-B94CFD27B8F0}"/>
              </a:ext>
            </a:extLst>
          </p:cNvPr>
          <p:cNvSpPr/>
          <p:nvPr/>
        </p:nvSpPr>
        <p:spPr>
          <a:xfrm>
            <a:off x="3112968" y="5129775"/>
            <a:ext cx="1817370" cy="754380"/>
          </a:xfrm>
          <a:prstGeom prst="roundRect">
            <a:avLst/>
          </a:prstGeom>
          <a:solidFill>
            <a:srgbClr val="A527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CREDENTIAL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94E662-86C6-B9B4-03FF-78D624D79E5B}"/>
              </a:ext>
            </a:extLst>
          </p:cNvPr>
          <p:cNvSpPr txBox="1"/>
          <p:nvPr/>
        </p:nvSpPr>
        <p:spPr>
          <a:xfrm>
            <a:off x="1849927" y="849121"/>
            <a:ext cx="1903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 is a type of Domain. Agents can also sense other Domains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89A191E-D016-3500-2211-B45F208711AA}"/>
              </a:ext>
            </a:extLst>
          </p:cNvPr>
          <p:cNvCxnSpPr>
            <a:stCxn id="7" idx="0"/>
            <a:endCxn id="6" idx="1"/>
          </p:cNvCxnSpPr>
          <p:nvPr/>
        </p:nvCxnSpPr>
        <p:spPr>
          <a:xfrm rot="5400000" flipH="1" flipV="1">
            <a:off x="2302831" y="331766"/>
            <a:ext cx="2441210" cy="3335104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23BBB90-AF11-8D5D-8BA9-870D751229B2}"/>
              </a:ext>
            </a:extLst>
          </p:cNvPr>
          <p:cNvSpPr txBox="1"/>
          <p:nvPr/>
        </p:nvSpPr>
        <p:spPr>
          <a:xfrm>
            <a:off x="3243658" y="107032"/>
            <a:ext cx="571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Agent has goals, senses, and responds, i.e. Lunar Rover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BEA9153B-376C-DBCE-373D-2986EE611F78}"/>
              </a:ext>
            </a:extLst>
          </p:cNvPr>
          <p:cNvCxnSpPr>
            <a:cxnSpLocks/>
            <a:stCxn id="6" idx="3"/>
            <a:endCxn id="3" idx="0"/>
          </p:cNvCxnSpPr>
          <p:nvPr/>
        </p:nvCxnSpPr>
        <p:spPr>
          <a:xfrm>
            <a:off x="7008358" y="778713"/>
            <a:ext cx="3318079" cy="2446447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E6407E1-73AE-076C-BFF9-15A888764548}"/>
              </a:ext>
            </a:extLst>
          </p:cNvPr>
          <p:cNvSpPr txBox="1"/>
          <p:nvPr/>
        </p:nvSpPr>
        <p:spPr>
          <a:xfrm>
            <a:off x="8372193" y="877615"/>
            <a:ext cx="1928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Activity is an action performed by an Agent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91A2B-E51E-7CEB-9ADD-7FE148A72DAC}"/>
              </a:ext>
            </a:extLst>
          </p:cNvPr>
          <p:cNvSpPr txBox="1"/>
          <p:nvPr/>
        </p:nvSpPr>
        <p:spPr>
          <a:xfrm>
            <a:off x="10485658" y="2851490"/>
            <a:ext cx="15182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/>
              <a:t>i.e. Leave the Lander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3ED1D2-AA85-F23F-D0D7-5098C02D4891}"/>
              </a:ext>
            </a:extLst>
          </p:cNvPr>
          <p:cNvSpPr txBox="1"/>
          <p:nvPr/>
        </p:nvSpPr>
        <p:spPr>
          <a:xfrm>
            <a:off x="4058020" y="1359386"/>
            <a:ext cx="2062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Agent can send messages through </a:t>
            </a:r>
          </a:p>
          <a:p>
            <a:pPr algn="r"/>
            <a:r>
              <a:rPr lang="en-US" dirty="0"/>
              <a:t>the Channel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FB98881-7B40-11DE-CD0D-C4461FBA054A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>
            <a:off x="7008358" y="3048242"/>
            <a:ext cx="2409394" cy="554108"/>
          </a:xfrm>
          <a:prstGeom prst="bentConnector3">
            <a:avLst>
              <a:gd name="adj1" fmla="val 14895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F42CB44-2D54-4578-60DC-9AB86DCDB27F}"/>
              </a:ext>
            </a:extLst>
          </p:cNvPr>
          <p:cNvSpPr txBox="1"/>
          <p:nvPr/>
        </p:nvSpPr>
        <p:spPr>
          <a:xfrm>
            <a:off x="7412664" y="2709726"/>
            <a:ext cx="2112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Channel contains messages related to an Activity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3FC4047B-31E8-FF5E-D602-97A1B881D1F6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2764569" y="3048242"/>
            <a:ext cx="2426419" cy="548871"/>
          </a:xfrm>
          <a:prstGeom prst="bentConnector3">
            <a:avLst>
              <a:gd name="adj1" fmla="val 82503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27A9A1C-E319-9C96-7A06-71EDACAE1424}"/>
              </a:ext>
            </a:extLst>
          </p:cNvPr>
          <p:cNvSpPr txBox="1"/>
          <p:nvPr/>
        </p:nvSpPr>
        <p:spPr>
          <a:xfrm>
            <a:off x="3940057" y="3744814"/>
            <a:ext cx="4569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Domain can perform an Activity. </a:t>
            </a:r>
          </a:p>
          <a:p>
            <a:pPr algn="ctr"/>
            <a:r>
              <a:rPr lang="en-US" dirty="0"/>
              <a:t>An Activity can be performed on a Domain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0808CB-6E72-F83B-784E-F9C9DE7E0ABD}"/>
              </a:ext>
            </a:extLst>
          </p:cNvPr>
          <p:cNvSpPr txBox="1"/>
          <p:nvPr/>
        </p:nvSpPr>
        <p:spPr>
          <a:xfrm>
            <a:off x="180835" y="2617993"/>
            <a:ext cx="15486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i.e. Lander, Rover, Moon surface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D1695AF-5A10-2845-23F8-49FC5CB9D613}"/>
              </a:ext>
            </a:extLst>
          </p:cNvPr>
          <p:cNvSpPr txBox="1"/>
          <p:nvPr/>
        </p:nvSpPr>
        <p:spPr>
          <a:xfrm>
            <a:off x="2696875" y="2671052"/>
            <a:ext cx="2062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 Domain info can be sent through the Channel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FAA85C-85A2-D511-1FEF-EBBE82F710F4}"/>
              </a:ext>
            </a:extLst>
          </p:cNvPr>
          <p:cNvSpPr txBox="1"/>
          <p:nvPr/>
        </p:nvSpPr>
        <p:spPr>
          <a:xfrm>
            <a:off x="10371087" y="4206445"/>
            <a:ext cx="1851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Activities take Time to be carried out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C9DC86A-0F09-1535-B609-1818BB653999}"/>
              </a:ext>
            </a:extLst>
          </p:cNvPr>
          <p:cNvSpPr txBox="1"/>
          <p:nvPr/>
        </p:nvSpPr>
        <p:spPr>
          <a:xfrm>
            <a:off x="8324896" y="4189282"/>
            <a:ext cx="1851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 Contract is done for an Activity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89FFD51-1971-3C4F-F247-7E9A4D8395D2}"/>
              </a:ext>
            </a:extLst>
          </p:cNvPr>
          <p:cNvSpPr txBox="1"/>
          <p:nvPr/>
        </p:nvSpPr>
        <p:spPr>
          <a:xfrm>
            <a:off x="2025809" y="4160685"/>
            <a:ext cx="2105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Credential is made by a Domain (domain authority)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0FF8176-6D01-A65C-4643-E7A6063B223D}"/>
              </a:ext>
            </a:extLst>
          </p:cNvPr>
          <p:cNvSpPr txBox="1"/>
          <p:nvPr/>
        </p:nvSpPr>
        <p:spPr>
          <a:xfrm>
            <a:off x="5011638" y="4921252"/>
            <a:ext cx="2176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Credential parties to a Contract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2BA997D-9787-CE87-F1DD-171D453A6093}"/>
              </a:ext>
            </a:extLst>
          </p:cNvPr>
          <p:cNvSpPr txBox="1"/>
          <p:nvPr/>
        </p:nvSpPr>
        <p:spPr>
          <a:xfrm>
            <a:off x="79833" y="4129267"/>
            <a:ext cx="17104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Domain references a Hyperspace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B2CF80A-3441-3F8D-FE59-B23FB55B7C0E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2758612" y="5982562"/>
            <a:ext cx="6668818" cy="4529"/>
          </a:xfrm>
          <a:prstGeom prst="line">
            <a:avLst/>
          </a:prstGeom>
          <a:ln w="28575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369EDFB-8719-7535-B956-783488C94AE4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1849927" y="3974303"/>
            <a:ext cx="5957" cy="163559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4404CD81-243B-8676-890C-E0AD4849D363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930338" y="5506965"/>
            <a:ext cx="2304213" cy="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B02A4277-80C1-1115-B15A-937DA3A43387}"/>
              </a:ext>
            </a:extLst>
          </p:cNvPr>
          <p:cNvCxnSpPr>
            <a:cxnSpLocks/>
          </p:cNvCxnSpPr>
          <p:nvPr/>
        </p:nvCxnSpPr>
        <p:spPr>
          <a:xfrm>
            <a:off x="2764569" y="3744533"/>
            <a:ext cx="6653183" cy="2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ED8E3695-7AB7-CCD2-A531-41D7D448384B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10326437" y="3979540"/>
            <a:ext cx="9678" cy="162583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8C3A8F99-2FC1-54B5-B147-07FE9C2C6543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6099673" y="1155903"/>
            <a:ext cx="0" cy="151514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828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F5D508-B096-2E02-3631-DB1F43FF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10</a:t>
            </a:fld>
            <a:endParaRPr lang="en-US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2C3ACE-6A62-93EA-B7F3-EC2A34186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819" y="1485900"/>
            <a:ext cx="9768361" cy="40517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C1AFCA-677A-A730-6C04-1DFBB4F6E051}"/>
              </a:ext>
            </a:extLst>
          </p:cNvPr>
          <p:cNvSpPr txBox="1"/>
          <p:nvPr/>
        </p:nvSpPr>
        <p:spPr>
          <a:xfrm>
            <a:off x="914400" y="6156078"/>
            <a:ext cx="10812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From 979-8-3503-5597-0/25/$31.00 ©2025 IEEE, </a:t>
            </a:r>
          </a:p>
          <a:p>
            <a:r>
              <a:rPr lang="en-US" sz="1200" dirty="0"/>
              <a:t>Enabling Interoperable Digital Twins for Collaborative Lunar Exploration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24F32E-80B0-45AA-BB2F-2219B6CC4CA6}"/>
              </a:ext>
            </a:extLst>
          </p:cNvPr>
          <p:cNvSpPr txBox="1"/>
          <p:nvPr/>
        </p:nvSpPr>
        <p:spPr>
          <a:xfrm>
            <a:off x="1120140" y="920503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summary,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B82583-D98C-44A2-7A19-64E07C3A96DD}"/>
              </a:ext>
            </a:extLst>
          </p:cNvPr>
          <p:cNvCxnSpPr>
            <a:cxnSpLocks/>
          </p:cNvCxnSpPr>
          <p:nvPr/>
        </p:nvCxnSpPr>
        <p:spPr>
          <a:xfrm>
            <a:off x="914400" y="860878"/>
            <a:ext cx="0" cy="476268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970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Attributes of HSML ENTITY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11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8D1ECC9-3ECA-B9E8-308C-A5B8BD61B9CA}"/>
              </a:ext>
            </a:extLst>
          </p:cNvPr>
          <p:cNvSpPr txBox="1"/>
          <p:nvPr/>
        </p:nvSpPr>
        <p:spPr>
          <a:xfrm>
            <a:off x="914400" y="1665348"/>
            <a:ext cx="622935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Identifiers</a:t>
            </a:r>
            <a:r>
              <a:rPr lang="en-US" sz="2400" dirty="0"/>
              <a:t> – SWIDs</a:t>
            </a:r>
            <a:r>
              <a:rPr lang="en-US" sz="2400" baseline="30000" dirty="0"/>
              <a:t>1</a:t>
            </a:r>
            <a:r>
              <a:rPr lang="en-US" sz="2400" dirty="0"/>
              <a:t> that conform to W3C did-core, </a:t>
            </a:r>
            <a:r>
              <a:rPr lang="en-US" sz="2400" dirty="0">
                <a:hlinkClick r:id="rId2"/>
              </a:rPr>
              <a:t>https://www.w3.org/TR/did-core/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Description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Links </a:t>
            </a:r>
            <a:r>
              <a:rPr lang="en-US" sz="2400" dirty="0"/>
              <a:t>to other ENTITIES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Properties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Type</a:t>
            </a:r>
            <a:r>
              <a:rPr lang="en-US" sz="2400" dirty="0"/>
              <a:t>: either “ENTITY” or one of the eight semantic entities in the Spatial Web ontology </a:t>
            </a:r>
          </a:p>
          <a:p>
            <a:endParaRPr lang="en-US" sz="2400" dirty="0"/>
          </a:p>
          <a:p>
            <a:r>
              <a:rPr lang="en-US" sz="2400" dirty="0"/>
              <a:t>All HSML objects derive from the Entity class.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314492-8D6F-BF14-DE03-AC7761517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766" y="1404303"/>
            <a:ext cx="4000706" cy="1549480"/>
          </a:xfrm>
          <a:prstGeom prst="rect">
            <a:avLst/>
          </a:prstGeom>
        </p:spPr>
      </p:pic>
      <p:pic>
        <p:nvPicPr>
          <p:cNvPr id="12" name="Google Shape;523;p92">
            <a:extLst>
              <a:ext uri="{FF2B5EF4-FFF2-40B4-BE49-F238E27FC236}">
                <a16:creationId xmlns:a16="http://schemas.microsoft.com/office/drawing/2014/main" id="{D5919100-76E8-2F4A-6D95-8659A5057C4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7766" y="2646363"/>
            <a:ext cx="4400550" cy="3543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C0C8B6-1F82-364B-4965-047EDE47B661}"/>
              </a:ext>
            </a:extLst>
          </p:cNvPr>
          <p:cNvSpPr txBox="1"/>
          <p:nvPr/>
        </p:nvSpPr>
        <p:spPr>
          <a:xfrm>
            <a:off x="838200" y="6352143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aseline="30000" dirty="0"/>
              <a:t>1</a:t>
            </a:r>
            <a:r>
              <a:rPr lang="en-US" sz="1800" dirty="0"/>
              <a:t>SWID ≡ Spatial Web Identifier</a:t>
            </a:r>
          </a:p>
        </p:txBody>
      </p:sp>
    </p:spTree>
    <p:extLst>
      <p:ext uri="{BB962C8B-B14F-4D97-AF65-F5344CB8AC3E}">
        <p14:creationId xmlns:p14="http://schemas.microsoft.com/office/powerpoint/2010/main" val="1632519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48945" y="3822336"/>
            <a:ext cx="3338384" cy="1325563"/>
          </a:xfrm>
        </p:spPr>
        <p:txBody>
          <a:bodyPr>
            <a:normAutofit/>
          </a:bodyPr>
          <a:lstStyle/>
          <a:p>
            <a:r>
              <a:rPr lang="en-US" sz="2000" b="1" dirty="0"/>
              <a:t>HSML Example Explained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12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>
            <a:cxnSpLocks/>
          </p:cNvCxnSpPr>
          <p:nvPr/>
        </p:nvCxnSpPr>
        <p:spPr>
          <a:xfrm>
            <a:off x="556053" y="2815925"/>
            <a:ext cx="0" cy="329159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oogle Shape;523;p92">
            <a:extLst>
              <a:ext uri="{FF2B5EF4-FFF2-40B4-BE49-F238E27FC236}">
                <a16:creationId xmlns:a16="http://schemas.microsoft.com/office/drawing/2014/main" id="{D5919100-76E8-2F4A-6D95-8659A5057C4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22014" y="775689"/>
            <a:ext cx="6097903" cy="489379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C0C8B6-1F82-364B-4965-047EDE47B661}"/>
              </a:ext>
            </a:extLst>
          </p:cNvPr>
          <p:cNvSpPr txBox="1"/>
          <p:nvPr/>
        </p:nvSpPr>
        <p:spPr>
          <a:xfrm>
            <a:off x="838200" y="6267743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aseline="30000" dirty="0"/>
              <a:t>1</a:t>
            </a:r>
            <a:r>
              <a:rPr lang="en-US" sz="1800" dirty="0"/>
              <a:t>SWID ≡ Spatial Web Identifier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2DBB3B4-4BA9-F47B-3797-05208537D9C0}"/>
              </a:ext>
            </a:extLst>
          </p:cNvPr>
          <p:cNvCxnSpPr>
            <a:cxnSpLocks/>
          </p:cNvCxnSpPr>
          <p:nvPr/>
        </p:nvCxnSpPr>
        <p:spPr>
          <a:xfrm flipV="1">
            <a:off x="4719570" y="555304"/>
            <a:ext cx="1594733" cy="1001583"/>
          </a:xfrm>
          <a:prstGeom prst="bentConnector3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32907D9-153B-D1F3-D0AA-E370F43A5F8C}"/>
              </a:ext>
            </a:extLst>
          </p:cNvPr>
          <p:cNvSpPr txBox="1"/>
          <p:nvPr/>
        </p:nvSpPr>
        <p:spPr>
          <a:xfrm>
            <a:off x="5404739" y="185972"/>
            <a:ext cx="350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Entity Subclass: Domain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623CF036-4536-D1F9-D7AD-2E5E8C637F24}"/>
              </a:ext>
            </a:extLst>
          </p:cNvPr>
          <p:cNvCxnSpPr>
            <a:cxnSpLocks/>
          </p:cNvCxnSpPr>
          <p:nvPr/>
        </p:nvCxnSpPr>
        <p:spPr>
          <a:xfrm>
            <a:off x="4719570" y="1743279"/>
            <a:ext cx="4955771" cy="182940"/>
          </a:xfrm>
          <a:prstGeom prst="bentConnector3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96E3EF5-B19F-62DE-A158-7485F257FE47}"/>
              </a:ext>
            </a:extLst>
          </p:cNvPr>
          <p:cNvSpPr txBox="1"/>
          <p:nvPr/>
        </p:nvSpPr>
        <p:spPr>
          <a:xfrm>
            <a:off x="7511543" y="1544466"/>
            <a:ext cx="444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Status: Active or in use within the system 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E1278B8A-9689-8CDE-4CA1-727E01DDA4A5}"/>
              </a:ext>
            </a:extLst>
          </p:cNvPr>
          <p:cNvCxnSpPr>
            <a:cxnSpLocks/>
          </p:cNvCxnSpPr>
          <p:nvPr/>
        </p:nvCxnSpPr>
        <p:spPr>
          <a:xfrm>
            <a:off x="367852" y="1132800"/>
            <a:ext cx="2023991" cy="1301372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849C7A5-F8C7-B6C9-06F1-75E10C89EAED}"/>
              </a:ext>
            </a:extLst>
          </p:cNvPr>
          <p:cNvSpPr txBox="1"/>
          <p:nvPr/>
        </p:nvSpPr>
        <p:spPr>
          <a:xfrm>
            <a:off x="196269" y="461888"/>
            <a:ext cx="2149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which entities is connected/linked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F1CA735-B570-DEC4-B384-53761ED7EE0C}"/>
              </a:ext>
            </a:extLst>
          </p:cNvPr>
          <p:cNvCxnSpPr>
            <a:cxnSpLocks/>
          </p:cNvCxnSpPr>
          <p:nvPr/>
        </p:nvCxnSpPr>
        <p:spPr>
          <a:xfrm flipV="1">
            <a:off x="4412598" y="2815925"/>
            <a:ext cx="5967078" cy="500791"/>
          </a:xfrm>
          <a:prstGeom prst="bentConnector3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92ECB6A-8772-BDA4-5566-36EAD856522F}"/>
              </a:ext>
            </a:extLst>
          </p:cNvPr>
          <p:cNvSpPr txBox="1"/>
          <p:nvPr/>
        </p:nvSpPr>
        <p:spPr>
          <a:xfrm>
            <a:off x="7357702" y="2434172"/>
            <a:ext cx="444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name to that domain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90F4715-8F14-307E-A8E7-B10092357A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170"/>
          <a:stretch/>
        </p:blipFill>
        <p:spPr>
          <a:xfrm>
            <a:off x="8384185" y="259897"/>
            <a:ext cx="2897515" cy="929527"/>
          </a:xfrm>
          <a:prstGeom prst="rect">
            <a:avLst/>
          </a:prstGeom>
        </p:spPr>
      </p:pic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30E54350-D014-5C9C-9068-EE92917F90A6}"/>
              </a:ext>
            </a:extLst>
          </p:cNvPr>
          <p:cNvCxnSpPr>
            <a:cxnSpLocks/>
          </p:cNvCxnSpPr>
          <p:nvPr/>
        </p:nvCxnSpPr>
        <p:spPr>
          <a:xfrm flipV="1">
            <a:off x="2737191" y="4557219"/>
            <a:ext cx="5967078" cy="500791"/>
          </a:xfrm>
          <a:prstGeom prst="bentConnector3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50FEC6E-4396-66D8-1804-558F72CE1E89}"/>
              </a:ext>
            </a:extLst>
          </p:cNvPr>
          <p:cNvSpPr txBox="1"/>
          <p:nvPr/>
        </p:nvSpPr>
        <p:spPr>
          <a:xfrm>
            <a:off x="6159286" y="4187887"/>
            <a:ext cx="444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should be Domain for this case 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8E1A815-EF07-DBB0-32BA-18D5914CAE31}"/>
              </a:ext>
            </a:extLst>
          </p:cNvPr>
          <p:cNvCxnSpPr>
            <a:cxnSpLocks/>
          </p:cNvCxnSpPr>
          <p:nvPr/>
        </p:nvCxnSpPr>
        <p:spPr>
          <a:xfrm>
            <a:off x="2391843" y="1926219"/>
            <a:ext cx="0" cy="11401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524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43;p95">
            <a:extLst>
              <a:ext uri="{FF2B5EF4-FFF2-40B4-BE49-F238E27FC236}">
                <a16:creationId xmlns:a16="http://schemas.microsoft.com/office/drawing/2014/main" id="{3FBD0C45-5ABD-D12F-E780-8FA25E4AF1A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5632" y="1091928"/>
            <a:ext cx="7871891" cy="506238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48945" y="3822336"/>
            <a:ext cx="3338384" cy="1325563"/>
          </a:xfrm>
        </p:spPr>
        <p:txBody>
          <a:bodyPr>
            <a:normAutofit/>
          </a:bodyPr>
          <a:lstStyle/>
          <a:p>
            <a:r>
              <a:rPr lang="en-US" sz="2000" b="1" dirty="0"/>
              <a:t>HSML Example Explained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13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>
            <a:cxnSpLocks/>
          </p:cNvCxnSpPr>
          <p:nvPr/>
        </p:nvCxnSpPr>
        <p:spPr>
          <a:xfrm>
            <a:off x="556053" y="2815925"/>
            <a:ext cx="0" cy="329159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8C0C8B6-1F82-364B-4965-047EDE47B661}"/>
              </a:ext>
            </a:extLst>
          </p:cNvPr>
          <p:cNvSpPr txBox="1"/>
          <p:nvPr/>
        </p:nvSpPr>
        <p:spPr>
          <a:xfrm>
            <a:off x="838200" y="6267743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aseline="30000" dirty="0"/>
              <a:t>1</a:t>
            </a:r>
            <a:r>
              <a:rPr lang="en-US" sz="1800" dirty="0"/>
              <a:t>SWID ≡ Spatial Web Identifier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2DBB3B4-4BA9-F47B-3797-05208537D9C0}"/>
              </a:ext>
            </a:extLst>
          </p:cNvPr>
          <p:cNvCxnSpPr>
            <a:cxnSpLocks/>
          </p:cNvCxnSpPr>
          <p:nvPr/>
        </p:nvCxnSpPr>
        <p:spPr>
          <a:xfrm flipV="1">
            <a:off x="2929623" y="766481"/>
            <a:ext cx="1594733" cy="1001583"/>
          </a:xfrm>
          <a:prstGeom prst="bentConnector3">
            <a:avLst>
              <a:gd name="adj1" fmla="val 32179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32907D9-153B-D1F3-D0AA-E370F43A5F8C}"/>
              </a:ext>
            </a:extLst>
          </p:cNvPr>
          <p:cNvSpPr txBox="1"/>
          <p:nvPr/>
        </p:nvSpPr>
        <p:spPr>
          <a:xfrm>
            <a:off x="3401862" y="372313"/>
            <a:ext cx="350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Entity Subclass: Space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623CF036-4536-D1F9-D7AD-2E5E8C637F24}"/>
              </a:ext>
            </a:extLst>
          </p:cNvPr>
          <p:cNvCxnSpPr>
            <a:cxnSpLocks/>
          </p:cNvCxnSpPr>
          <p:nvPr/>
        </p:nvCxnSpPr>
        <p:spPr>
          <a:xfrm>
            <a:off x="2929623" y="1943959"/>
            <a:ext cx="4237296" cy="174388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96E3EF5-B19F-62DE-A158-7485F257FE47}"/>
              </a:ext>
            </a:extLst>
          </p:cNvPr>
          <p:cNvSpPr txBox="1"/>
          <p:nvPr/>
        </p:nvSpPr>
        <p:spPr>
          <a:xfrm>
            <a:off x="5108028" y="1741919"/>
            <a:ext cx="444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Achival</a:t>
            </a:r>
            <a:r>
              <a:rPr lang="en-US" dirty="0"/>
              <a:t> Status: not defined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E1278B8A-9689-8CDE-4CA1-727E01DDA4A5}"/>
              </a:ext>
            </a:extLst>
          </p:cNvPr>
          <p:cNvCxnSpPr>
            <a:cxnSpLocks/>
          </p:cNvCxnSpPr>
          <p:nvPr/>
        </p:nvCxnSpPr>
        <p:spPr>
          <a:xfrm rot="16200000" flipH="1">
            <a:off x="-547377" y="1115959"/>
            <a:ext cx="2305754" cy="818462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849C7A5-F8C7-B6C9-06F1-75E10C89EAED}"/>
              </a:ext>
            </a:extLst>
          </p:cNvPr>
          <p:cNvSpPr txBox="1"/>
          <p:nvPr/>
        </p:nvSpPr>
        <p:spPr>
          <a:xfrm>
            <a:off x="196269" y="282873"/>
            <a:ext cx="2149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which entities is connected/linked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F1CA735-B570-DEC4-B384-53761ED7EE0C}"/>
              </a:ext>
            </a:extLst>
          </p:cNvPr>
          <p:cNvCxnSpPr>
            <a:cxnSpLocks/>
          </p:cNvCxnSpPr>
          <p:nvPr/>
        </p:nvCxnSpPr>
        <p:spPr>
          <a:xfrm flipV="1">
            <a:off x="3094890" y="3212589"/>
            <a:ext cx="4238037" cy="267131"/>
          </a:xfrm>
          <a:prstGeom prst="bentConnector3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92ECB6A-8772-BDA4-5566-36EAD856522F}"/>
              </a:ext>
            </a:extLst>
          </p:cNvPr>
          <p:cNvSpPr txBox="1"/>
          <p:nvPr/>
        </p:nvSpPr>
        <p:spPr>
          <a:xfrm>
            <a:off x="5155422" y="2845180"/>
            <a:ext cx="444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name to that space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8E1A815-EF07-DBB0-32BA-18D5914CAE31}"/>
              </a:ext>
            </a:extLst>
          </p:cNvPr>
          <p:cNvCxnSpPr>
            <a:cxnSpLocks/>
          </p:cNvCxnSpPr>
          <p:nvPr/>
        </p:nvCxnSpPr>
        <p:spPr>
          <a:xfrm>
            <a:off x="1014731" y="2201194"/>
            <a:ext cx="0" cy="11401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08DBFB7-9A14-85B1-C11A-852EAFFE10E2}"/>
              </a:ext>
            </a:extLst>
          </p:cNvPr>
          <p:cNvCxnSpPr>
            <a:cxnSpLocks/>
          </p:cNvCxnSpPr>
          <p:nvPr/>
        </p:nvCxnSpPr>
        <p:spPr>
          <a:xfrm>
            <a:off x="2231196" y="3995667"/>
            <a:ext cx="4503236" cy="196616"/>
          </a:xfrm>
          <a:prstGeom prst="bentConnector3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A6540D6-8083-F0A4-7995-15FAC9FBD51C}"/>
              </a:ext>
            </a:extLst>
          </p:cNvPr>
          <p:cNvSpPr txBox="1"/>
          <p:nvPr/>
        </p:nvSpPr>
        <p:spPr>
          <a:xfrm>
            <a:off x="4524356" y="3830053"/>
            <a:ext cx="350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Specific to Space subclass</a:t>
            </a:r>
          </a:p>
        </p:txBody>
      </p:sp>
      <p:pic>
        <p:nvPicPr>
          <p:cNvPr id="32" name="Google Shape;551;p96">
            <a:extLst>
              <a:ext uri="{FF2B5EF4-FFF2-40B4-BE49-F238E27FC236}">
                <a16:creationId xmlns:a16="http://schemas.microsoft.com/office/drawing/2014/main" id="{591A25E6-F96B-76B5-061F-8278C41149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0504" y="1091928"/>
            <a:ext cx="2325864" cy="506238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6967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HSML Scene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14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8D1ECC9-3ECA-B9E8-308C-A5B8BD61B9CA}"/>
              </a:ext>
            </a:extLst>
          </p:cNvPr>
          <p:cNvSpPr txBox="1"/>
          <p:nvPr/>
        </p:nvSpPr>
        <p:spPr>
          <a:xfrm>
            <a:off x="838200" y="1672474"/>
            <a:ext cx="11049000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HSML Scene allows to display meshes in a scene, place and rotate them. </a:t>
            </a:r>
          </a:p>
          <a:p>
            <a:r>
              <a:rPr lang="en-US" sz="2400" dirty="0"/>
              <a:t>There are currently 2 proposals:</a:t>
            </a:r>
          </a:p>
          <a:p>
            <a:r>
              <a:rPr lang="en-US" sz="2400" b="1" dirty="0"/>
              <a:t>  Proposal A: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/>
              <a:t>The whole scene is contained in a single object. Can be retrieved in a single call.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/>
              <a:t>Easier to go from these HSML meshes to USD, closer to the logic of NVIDIA and similar tools.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/>
              <a:t>Needs to update the whole scene.</a:t>
            </a:r>
          </a:p>
          <a:p>
            <a:r>
              <a:rPr lang="en-US" sz="2400" b="1" dirty="0"/>
              <a:t>  Proposal B: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/>
              <a:t>Each scene or mesh in an HSML entity. All need to be retrieved, using a few HSQL queries.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/>
              <a:t>Implemented in a more HSML-like manner with scenes composed of  linked entities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/>
              <a:t>Can access/update individual entries more easily and not the entire scene.</a:t>
            </a:r>
          </a:p>
        </p:txBody>
      </p:sp>
    </p:spTree>
    <p:extLst>
      <p:ext uri="{BB962C8B-B14F-4D97-AF65-F5344CB8AC3E}">
        <p14:creationId xmlns:p14="http://schemas.microsoft.com/office/powerpoint/2010/main" val="3852962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B33C-FCDD-55C6-A68A-FB830E17B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6150" y="2237651"/>
            <a:ext cx="9144000" cy="1207180"/>
          </a:xfrm>
        </p:spPr>
        <p:txBody>
          <a:bodyPr>
            <a:normAutofit/>
          </a:bodyPr>
          <a:lstStyle/>
          <a:p>
            <a:pPr algn="l"/>
            <a:r>
              <a:rPr lang="en-US" sz="6600" b="1" dirty="0"/>
              <a:t>ADDITIONAL SLIDES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73A88B-1BCD-9E12-85BD-0E3B4CF4CFD1}"/>
              </a:ext>
            </a:extLst>
          </p:cNvPr>
          <p:cNvSpPr/>
          <p:nvPr/>
        </p:nvSpPr>
        <p:spPr>
          <a:xfrm>
            <a:off x="0" y="0"/>
            <a:ext cx="3486150" cy="6858000"/>
          </a:xfrm>
          <a:prstGeom prst="rect">
            <a:avLst/>
          </a:prstGeom>
          <a:solidFill>
            <a:srgbClr val="96A4A8"/>
          </a:solidFill>
          <a:ln w="57150">
            <a:solidFill>
              <a:srgbClr val="96A4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C7375FF-5F0B-92E5-C1DB-A4EBA8016C60}"/>
              </a:ext>
            </a:extLst>
          </p:cNvPr>
          <p:cNvCxnSpPr/>
          <p:nvPr/>
        </p:nvCxnSpPr>
        <p:spPr>
          <a:xfrm>
            <a:off x="1987731" y="344483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0A7E6E4-AE0D-8D8C-A4C9-D7272DFF7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70F4D2-CD9E-4211-B0A3-6D53D5D6A630}" type="slidenum">
              <a:rPr lang="en-US" sz="2000" smtClean="0"/>
              <a:t>15</a:t>
            </a:fld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54808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DOMAIN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2D65A-19B3-BC2D-6B2C-CBD795621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6 types of Domains:</a:t>
            </a:r>
          </a:p>
          <a:p>
            <a:r>
              <a:rPr lang="en-US" b="1" dirty="0"/>
              <a:t>Geographic</a:t>
            </a:r>
            <a:r>
              <a:rPr lang="en-US" dirty="0"/>
              <a:t> — ex: Moon surface</a:t>
            </a:r>
          </a:p>
          <a:p>
            <a:r>
              <a:rPr lang="en-US" b="1" dirty="0"/>
              <a:t>Concept</a:t>
            </a:r>
            <a:r>
              <a:rPr lang="en-US" dirty="0"/>
              <a:t> — ex: Planetary Protection</a:t>
            </a:r>
          </a:p>
          <a:p>
            <a:r>
              <a:rPr lang="en-US" b="1" dirty="0"/>
              <a:t>Organization</a:t>
            </a:r>
            <a:r>
              <a:rPr lang="en-US" dirty="0"/>
              <a:t> — ex: a JPL team workplace</a:t>
            </a:r>
          </a:p>
          <a:p>
            <a:r>
              <a:rPr lang="en-US" b="1" dirty="0"/>
              <a:t>Agent</a:t>
            </a:r>
            <a:r>
              <a:rPr lang="en-US" dirty="0"/>
              <a:t> — ex: a physical rover, a digital twin, a lander</a:t>
            </a:r>
          </a:p>
          <a:p>
            <a:r>
              <a:rPr lang="en-US" b="1" dirty="0"/>
              <a:t>Person</a:t>
            </a:r>
            <a:r>
              <a:rPr lang="en-US" dirty="0"/>
              <a:t> — ex: a human person, astronaut</a:t>
            </a:r>
          </a:p>
          <a:p>
            <a:r>
              <a:rPr lang="en-US" b="1" dirty="0"/>
              <a:t>Thing</a:t>
            </a:r>
            <a:r>
              <a:rPr lang="en-US" dirty="0"/>
              <a:t> — ex: lunar rocks, the lander’s platform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16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948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SPACE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2D65A-19B3-BC2D-6B2C-CBD795621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7453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different properties that can define a SPACE:</a:t>
            </a:r>
          </a:p>
          <a:p>
            <a:r>
              <a:rPr lang="fr-FR" b="1" dirty="0"/>
              <a:t>description</a:t>
            </a:r>
          </a:p>
          <a:p>
            <a:r>
              <a:rPr lang="fr-FR" b="1" dirty="0" err="1"/>
              <a:t>transform</a:t>
            </a:r>
            <a:endParaRPr lang="fr-FR" b="1" dirty="0"/>
          </a:p>
          <a:p>
            <a:r>
              <a:rPr lang="fr-FR" b="1" dirty="0"/>
              <a:t>position (</a:t>
            </a:r>
            <a:r>
              <a:rPr lang="fr-FR" b="1" dirty="0" err="1"/>
              <a:t>xyz</a:t>
            </a:r>
            <a:r>
              <a:rPr lang="fr-FR" b="1" dirty="0"/>
              <a:t>)</a:t>
            </a:r>
          </a:p>
          <a:p>
            <a:r>
              <a:rPr lang="fr-FR" b="1" dirty="0"/>
              <a:t>rotation (</a:t>
            </a:r>
            <a:r>
              <a:rPr lang="fr-FR" b="1" dirty="0" err="1"/>
              <a:t>xyz</a:t>
            </a:r>
            <a:r>
              <a:rPr lang="fr-FR" b="1" dirty="0"/>
              <a:t>)</a:t>
            </a:r>
          </a:p>
          <a:p>
            <a:r>
              <a:rPr lang="fr-FR" b="1" dirty="0"/>
              <a:t>volume (</a:t>
            </a:r>
            <a:r>
              <a:rPr lang="fr-FR" b="1" dirty="0" err="1"/>
              <a:t>xyz</a:t>
            </a:r>
            <a:r>
              <a:rPr lang="fr-FR" b="1" dirty="0"/>
              <a:t>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17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B29E4F6-DDCD-9759-B863-43B1E3B52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686" y="1111956"/>
            <a:ext cx="1910487" cy="463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10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HSTP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2D65A-19B3-BC2D-6B2C-CBD795621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Bootstrapping/Context queries</a:t>
            </a:r>
          </a:p>
          <a:p>
            <a:r>
              <a:rPr lang="en-US" b="1" dirty="0"/>
              <a:t>Activity queries</a:t>
            </a:r>
          </a:p>
          <a:p>
            <a:r>
              <a:rPr lang="en-US" b="1" dirty="0"/>
              <a:t>Hyperspace range queries</a:t>
            </a:r>
          </a:p>
          <a:p>
            <a:r>
              <a:rPr lang="en-US" b="1" dirty="0"/>
              <a:t>Abstract data type query</a:t>
            </a:r>
          </a:p>
          <a:p>
            <a:r>
              <a:rPr lang="en-US" b="1" dirty="0"/>
              <a:t>Graph queries</a:t>
            </a:r>
          </a:p>
          <a:p>
            <a:r>
              <a:rPr lang="en-US" b="1" dirty="0"/>
              <a:t>Semantic queries</a:t>
            </a:r>
          </a:p>
          <a:p>
            <a:r>
              <a:rPr lang="en-US" b="1" dirty="0"/>
              <a:t>Vector queries</a:t>
            </a:r>
          </a:p>
          <a:p>
            <a:r>
              <a:rPr lang="en-US" b="1" dirty="0"/>
              <a:t>Queries on HSML </a:t>
            </a:r>
            <a:r>
              <a:rPr lang="en-US" b="1" dirty="0" err="1"/>
              <a:t>Entitites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18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37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2344-CEB6-020A-515D-BBB5B604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HSML Mesh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58A5F-768E-EDE0-F2F3-989AD694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19</a:t>
            </a:fld>
            <a:endParaRPr lang="en-US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EE432-21EA-E215-4A56-6C8F3D0141CF}"/>
              </a:ext>
            </a:extLst>
          </p:cNvPr>
          <p:cNvCxnSpPr/>
          <p:nvPr/>
        </p:nvCxnSpPr>
        <p:spPr>
          <a:xfrm>
            <a:off x="914400" y="1469571"/>
            <a:ext cx="5029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8D1ECC9-3ECA-B9E8-308C-A5B8BD61B9CA}"/>
              </a:ext>
            </a:extLst>
          </p:cNvPr>
          <p:cNvSpPr txBox="1"/>
          <p:nvPr/>
        </p:nvSpPr>
        <p:spPr>
          <a:xfrm>
            <a:off x="914399" y="1665348"/>
            <a:ext cx="94282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An HSML Mesh is an HSML document, it contains: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meshes</a:t>
            </a:r>
            <a:r>
              <a:rPr lang="en-US" sz="2400" dirty="0"/>
              <a:t> field – mesh URIs pointing to stored files in S3 bucket (i.e. a mesh in USD for Nvidia Omniverse)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volume</a:t>
            </a:r>
            <a:r>
              <a:rPr lang="en-US" sz="2400" dirty="0"/>
              <a:t> field – contains </a:t>
            </a:r>
            <a:r>
              <a:rPr lang="en-US" sz="2400" b="1" dirty="0"/>
              <a:t>nodes</a:t>
            </a:r>
            <a:r>
              <a:rPr lang="en-US" sz="2400" dirty="0"/>
              <a:t> field (octree of mesh)</a:t>
            </a:r>
          </a:p>
        </p:txBody>
      </p:sp>
    </p:spTree>
    <p:extLst>
      <p:ext uri="{BB962C8B-B14F-4D97-AF65-F5344CB8AC3E}">
        <p14:creationId xmlns:p14="http://schemas.microsoft.com/office/powerpoint/2010/main" val="1193685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071DE91-C41A-EF20-0CBE-DB8FE06BD35B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34540" y="1068705"/>
            <a:ext cx="7760970" cy="399478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1EDA244-0F19-900A-3432-244B7B78CBE8}"/>
              </a:ext>
            </a:extLst>
          </p:cNvPr>
          <p:cNvCxnSpPr>
            <a:cxnSpLocks/>
          </p:cNvCxnSpPr>
          <p:nvPr/>
        </p:nvCxnSpPr>
        <p:spPr>
          <a:xfrm flipH="1">
            <a:off x="1771650" y="2966561"/>
            <a:ext cx="8023860" cy="1924448"/>
          </a:xfrm>
          <a:prstGeom prst="straightConnector1">
            <a:avLst/>
          </a:prstGeom>
          <a:ln w="571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42B0A03-FF7F-FBEB-1464-997445F7C47B}"/>
              </a:ext>
            </a:extLst>
          </p:cNvPr>
          <p:cNvCxnSpPr/>
          <p:nvPr/>
        </p:nvCxnSpPr>
        <p:spPr>
          <a:xfrm>
            <a:off x="2034540" y="5530215"/>
            <a:ext cx="7760970" cy="0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AE796E-739C-7568-A20C-0905A547ED7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034540" y="1068705"/>
            <a:ext cx="7760970" cy="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CB27A9-F3FD-BE16-AFC1-01E11B930ADD}"/>
              </a:ext>
            </a:extLst>
          </p:cNvPr>
          <p:cNvCxnSpPr/>
          <p:nvPr/>
        </p:nvCxnSpPr>
        <p:spPr>
          <a:xfrm flipH="1">
            <a:off x="2034540" y="845820"/>
            <a:ext cx="7760970" cy="0"/>
          </a:xfrm>
          <a:prstGeom prst="straightConnector1">
            <a:avLst/>
          </a:prstGeom>
          <a:ln w="5715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0E00AD3-5861-886D-45D1-5A298F76158D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flipH="1">
            <a:off x="2034540" y="5288280"/>
            <a:ext cx="7760970" cy="97155"/>
          </a:xfrm>
          <a:prstGeom prst="straightConnector1">
            <a:avLst/>
          </a:prstGeom>
          <a:ln w="57150">
            <a:solidFill>
              <a:srgbClr val="96A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3B4142-4555-8F15-5962-934A473B61C2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034540" y="1165860"/>
            <a:ext cx="7760970" cy="4122420"/>
          </a:xfrm>
          <a:prstGeom prst="straightConnector1">
            <a:avLst/>
          </a:prstGeom>
          <a:ln w="57150">
            <a:solidFill>
              <a:srgbClr val="96A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F5D508-B096-2E02-3631-DB1F43FF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0F4D2-CD9E-4211-B0A3-6D53D5D6A630}" type="slidenum">
              <a:rPr lang="en-US" sz="2000" smtClean="0"/>
              <a:t>20</a:t>
            </a:fld>
            <a:endParaRPr lang="en-US" sz="2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5DA0E-BF0A-1BBD-9A4E-3D1DE2B01D25}"/>
              </a:ext>
            </a:extLst>
          </p:cNvPr>
          <p:cNvSpPr/>
          <p:nvPr/>
        </p:nvSpPr>
        <p:spPr>
          <a:xfrm>
            <a:off x="4709160" y="377190"/>
            <a:ext cx="2411730" cy="1577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Channel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E28535-4F3D-68D8-F58E-EBC471667840}"/>
              </a:ext>
            </a:extLst>
          </p:cNvPr>
          <p:cNvSpPr/>
          <p:nvPr/>
        </p:nvSpPr>
        <p:spPr>
          <a:xfrm>
            <a:off x="4709160" y="2438400"/>
            <a:ext cx="2411730" cy="1577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Channel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8FE425-C109-D78D-A6DA-F0330A828240}"/>
              </a:ext>
            </a:extLst>
          </p:cNvPr>
          <p:cNvSpPr/>
          <p:nvPr/>
        </p:nvSpPr>
        <p:spPr>
          <a:xfrm>
            <a:off x="4709160" y="4499610"/>
            <a:ext cx="2411730" cy="1577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Channel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2B7DD7-CA63-ACA7-3D2A-687BF0A9B3CE}"/>
              </a:ext>
            </a:extLst>
          </p:cNvPr>
          <p:cNvSpPr/>
          <p:nvPr/>
        </p:nvSpPr>
        <p:spPr>
          <a:xfrm>
            <a:off x="731520" y="628650"/>
            <a:ext cx="1303020" cy="88011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000EA4-A20F-DF16-8C84-53C16CE3526F}"/>
              </a:ext>
            </a:extLst>
          </p:cNvPr>
          <p:cNvSpPr/>
          <p:nvPr/>
        </p:nvSpPr>
        <p:spPr>
          <a:xfrm>
            <a:off x="9795510" y="628650"/>
            <a:ext cx="1303020" cy="88011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E62DE9-1DF9-841B-E2BA-93187BF689E4}"/>
              </a:ext>
            </a:extLst>
          </p:cNvPr>
          <p:cNvSpPr/>
          <p:nvPr/>
        </p:nvSpPr>
        <p:spPr>
          <a:xfrm>
            <a:off x="731520" y="2787015"/>
            <a:ext cx="1303020" cy="88011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B32D9EB-2628-4268-7ADF-8AA1A49202E5}"/>
              </a:ext>
            </a:extLst>
          </p:cNvPr>
          <p:cNvSpPr/>
          <p:nvPr/>
        </p:nvSpPr>
        <p:spPr>
          <a:xfrm>
            <a:off x="9795510" y="2787015"/>
            <a:ext cx="1303020" cy="88011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74732C-A811-CA41-9F1F-164423DE0558}"/>
              </a:ext>
            </a:extLst>
          </p:cNvPr>
          <p:cNvSpPr/>
          <p:nvPr/>
        </p:nvSpPr>
        <p:spPr>
          <a:xfrm>
            <a:off x="9795510" y="4848225"/>
            <a:ext cx="1303020" cy="88011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4F7113-3F70-B1D0-3E04-4FA64ADE8313}"/>
              </a:ext>
            </a:extLst>
          </p:cNvPr>
          <p:cNvSpPr/>
          <p:nvPr/>
        </p:nvSpPr>
        <p:spPr>
          <a:xfrm>
            <a:off x="731520" y="4945380"/>
            <a:ext cx="1303020" cy="88011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5</a:t>
            </a:r>
          </a:p>
        </p:txBody>
      </p:sp>
    </p:spTree>
    <p:extLst>
      <p:ext uri="{BB962C8B-B14F-4D97-AF65-F5344CB8AC3E}">
        <p14:creationId xmlns:p14="http://schemas.microsoft.com/office/powerpoint/2010/main" val="266307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1194</Words>
  <Application>Microsoft Office PowerPoint</Application>
  <PresentationFormat>Widescreen</PresentationFormat>
  <Paragraphs>187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Poppins</vt:lpstr>
      <vt:lpstr>Segoe UI Black</vt:lpstr>
      <vt:lpstr>source-serif-pro</vt:lpstr>
      <vt:lpstr>Office Theme</vt:lpstr>
      <vt:lpstr>The Spatial Web </vt:lpstr>
      <vt:lpstr>PowerPoint Presentation</vt:lpstr>
      <vt:lpstr>Spatial Web Protocols</vt:lpstr>
      <vt:lpstr>HSTP in Simple Words</vt:lpstr>
      <vt:lpstr>HSTP &amp; HSML for Kafka</vt:lpstr>
      <vt:lpstr>HSML in Simple Words</vt:lpstr>
      <vt:lpstr>Spatial Web Ontology Entries</vt:lpstr>
      <vt:lpstr>PowerPoint Presentation</vt:lpstr>
      <vt:lpstr>PowerPoint Presentation</vt:lpstr>
      <vt:lpstr>PowerPoint Presentation</vt:lpstr>
      <vt:lpstr>Attributes of HSML ENTITY</vt:lpstr>
      <vt:lpstr>HSML Example Explained</vt:lpstr>
      <vt:lpstr>HSML Example Explained</vt:lpstr>
      <vt:lpstr>HSML Scene</vt:lpstr>
      <vt:lpstr>ADDITIONAL SLIDES</vt:lpstr>
      <vt:lpstr>DOMAIN Types</vt:lpstr>
      <vt:lpstr>SPACE Properties</vt:lpstr>
      <vt:lpstr>HSTP Queries</vt:lpstr>
      <vt:lpstr>HSML Mesh</vt:lpstr>
      <vt:lpstr>PowerPoint Presentation</vt:lpstr>
    </vt:vector>
  </TitlesOfParts>
  <Company>JPL ITSD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Sanjurjo Barrio, Alicia (349B-Affiliate)</dc:creator>
  <cp:lastModifiedBy>Sanjurjo Barrio, Alicia (349B-Affiliate)</cp:lastModifiedBy>
  <cp:revision>19</cp:revision>
  <dcterms:created xsi:type="dcterms:W3CDTF">2024-11-21T17:02:32Z</dcterms:created>
  <dcterms:modified xsi:type="dcterms:W3CDTF">2024-11-22T20:23:05Z</dcterms:modified>
</cp:coreProperties>
</file>